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Токамак-Анализ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CCCC"/>
                </a:solidFill>
              </a:defRPr>
            </a:pPr>
            <a:r>
              <a:t>Пользовательские кейсы и сценарии использования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9999"/>
                </a:solidFill>
              </a:defRPr>
            </a:pPr>
            <a:r>
              <a:t>ИИ-система для анализа экспериментальных данных токамаков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0392B"/>
                </a:solidFill>
              </a:defRPr>
            </a:pPr>
            <a:r>
              <a:t>НИЯУ МИФИ, 2026  |  https://tokamak-ai.ru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0392B"/>
                </a:solidFill>
              </a:defRPr>
            </a:pPr>
            <a:r>
              <a:t>Роли пользователей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474720" cy="4754880"/>
          </a:xfrm>
          <a:prstGeom prst="roundRect">
            <a:avLst/>
          </a:prstGeom>
          <a:solidFill>
            <a:srgbClr val="F8F9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C0392B"/>
                </a:solidFill>
              </a:defRPr>
            </a:pPr>
            <a:r>
              <a:t>Исследователь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Загрузка данных из FAIR-MAST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Визуализация временных рядов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Классификация стабильности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Экспорт результатов (CSV/JSON)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Просмотр истории запусков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371600"/>
            <a:ext cx="3474720" cy="4754880"/>
          </a:xfrm>
          <a:prstGeom prst="roundRect">
            <a:avLst/>
          </a:prstGeom>
          <a:solidFill>
            <a:srgbClr val="F8F9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C0392B"/>
                </a:solidFill>
              </a:defRPr>
            </a:pPr>
            <a:r>
              <a:t>Инженер токамака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Предсказание срывов плазмы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Рекомендации по стабилизации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Настройка порогов предупреждения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Пакетная обработка выстрелов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Обучение моделей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71600"/>
            <a:ext cx="3474720" cy="4754880"/>
          </a:xfrm>
          <a:prstGeom prst="roundRect">
            <a:avLst/>
          </a:prstGeom>
          <a:solidFill>
            <a:srgbClr val="F8F9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C0392B"/>
                </a:solidFill>
              </a:defRPr>
            </a:pPr>
            <a:r>
              <a:t>Администратор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Управление пользователями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Смена ролей (RBAC)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Аудит-журнал (152-ФЗ)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Мониторинг (Grafana)</a:t>
            </a:r>
          </a:p>
          <a:p>
            <a:pPr>
              <a:spcBef>
                <a:spcPts val="800"/>
              </a:spcBef>
              <a:defRPr sz="1500">
                <a:solidFill>
                  <a:srgbClr val="1A1A2E"/>
                </a:solidFill>
              </a:defRPr>
            </a:pPr>
            <a:r>
              <a:t>• Бэкапы и восстановление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C0392B"/>
                </a:solidFill>
              </a:defRPr>
            </a:pPr>
            <a:r>
              <a:t>Кейс 1: Исследователь анализирует выстрел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Сценарий: загрузка, визуализация, классификация и экспорт данных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5544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Регистрация в системе (admin@mephi.ru, согласие 152-ФЗ)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2402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Ввод Shot ID на Dashboard (например 11700)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Загрузка данных из FAIR-MAST (S3/Zarr, ~6 сек)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118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57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Визуализация временных рядов (Plotly: зум, hover, выбор сигналов)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2976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343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Классификация: stable / unstable + confidence (AUC 0.9938)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834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Экспорт результатов в CSV или 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80B9"/>
                </a:solidFill>
              </a:defRPr>
            </a:pPr>
            <a:r>
              <a:t>API: POST /experiments/load → GET /timeseries → POST /predictions/classify → GET /export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C0392B"/>
                </a:solidFill>
              </a:defRPr>
            </a:pPr>
            <a:r>
              <a:t>Кейс 2: Инженер предсказывает срыв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Сценарий: раннее обнаружение срыва плазмы и рекомендации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5544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Вход в систему (роль: Инженер)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2402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Выбор загруженного эксперимента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Запуск предсказания срыва (POST /predictions/disruption)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118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57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График вероятности срыва во времени (DisruptionChart)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2976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343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Порог срабатывания — красная зона (по умолчанию 0.7)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834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Рекомендации: снижение тока, газонапуск, коррекция формы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6692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715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Настройка порога (Settings → PUT /threshold)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80B9"/>
                </a:solidFill>
              </a:defRPr>
            </a:pPr>
            <a:r>
              <a:t>Заблаговременность предупреждения: ≥30 мс до токового срыва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C0392B"/>
                </a:solidFill>
              </a:defRPr>
            </a:pPr>
            <a:r>
              <a:t>Кейс 3: Обучение новой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Сценарий: выбор архитектуры, настройка, асинхронное обучение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5544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Страница Training → выбор архитектуры (RF / LSTM / Transformer)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2402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Настройка гиперпараметров (epochs, learning rate, batch size)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Запуск обучения (async через Celery → ML Service)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118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57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Отслеживание прогресса (polling каждые 3 сек)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2976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343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Просмотр метрик: accuracy, F1, AUC-ROC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834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Активация лучшей версии модели (PUT /models/{id}/activate)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80B9"/>
                </a:solidFill>
              </a:defRPr>
            </a:pPr>
            <a:r>
              <a:t>Результат: LSTM AUC 0.9938 (22 эпохи), RF AUC 0.9677, Transformer AUC 0.9415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C0392B"/>
                </a:solidFill>
              </a:defRPr>
            </a:pPr>
            <a:r>
              <a:t>Кейс 4: Пакетная обработка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Сценарий: массовая загрузка и анализ нескольких выстрелов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5544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Страница Batch → ввод диапазона Shot ID (11700–11770)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2402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Массовая загрузка (POST /experiments/batch)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Batch classify → таблица результатов по всем выстрелам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118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57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Batch disruption → сводка предупреждений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2976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343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Экспорт сводного отчёта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80B9"/>
                </a:solidFill>
              </a:defRPr>
            </a:pPr>
            <a:r>
              <a:t>API: POST /predictions/batch-classify, POST /predictions/batch-disruption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C0392B"/>
                </a:solidFill>
              </a:defRPr>
            </a:pPr>
            <a:r>
              <a:t>Кейс 5: Администрирование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Сценарий: управление пользователями, аудит, мониторинг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5544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Управление пользователями (GET /admin/users)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2402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Смена ролей (PUT /admin/users/{id}/role)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Деактивация аккаунтов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118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57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Просмотр audit log (67+ записей: login, classify, train)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2976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343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Мониторинг: Grafana дашборды + Prometheus алерты (10 правил)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83480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Бэкапы: ежедневно 3:00, шифрование AES-256, MinIO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80B9"/>
                </a:solidFill>
              </a:defRPr>
            </a:pPr>
            <a:r>
              <a:t>Соответствие 152-ФЗ: согласие на ПДн, право на удаление, аудит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0392B"/>
                </a:solidFill>
              </a:defRPr>
            </a:pPr>
            <a:r>
              <a:t>Архитектура потоков данных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2286000" cy="731520"/>
          </a:xfrm>
          <a:prstGeom prst="roundRect">
            <a:avLst/>
          </a:prstGeom>
          <a:solidFill>
            <a:srgbClr val="F8F9FA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2E"/>
                </a:solidFill>
              </a:defRPr>
            </a:pPr>
            <a:r>
              <a:t>Браузер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371600"/>
            <a:ext cx="1828800" cy="731520"/>
          </a:xfrm>
          <a:prstGeom prst="roundRect">
            <a:avLst/>
          </a:prstGeom>
          <a:solidFill>
            <a:srgbClr val="E8E8E8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2E"/>
                </a:solidFill>
              </a:defRPr>
            </a:pPr>
            <a:r>
              <a:t>Nginx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2286000" cy="731520"/>
          </a:xfrm>
          <a:prstGeom prst="roundRect">
            <a:avLst/>
          </a:prstGeom>
          <a:solidFill>
            <a:srgbClr val="DDEEFF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2E"/>
                </a:solidFill>
              </a:defRPr>
            </a:pPr>
            <a:r>
              <a:t>Frontend</a:t>
            </a:r>
          </a:p>
          <a:p>
            <a:pPr algn="ctr">
              <a:defRPr sz="1300" b="0">
                <a:solidFill>
                  <a:srgbClr val="1A1A2E"/>
                </a:solidFill>
              </a:defRPr>
            </a:pPr>
            <a:r>
              <a:t>React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2743200"/>
            <a:ext cx="2286000" cy="731520"/>
          </a:xfrm>
          <a:prstGeom prst="roundRect">
            <a:avLst/>
          </a:prstGeom>
          <a:solidFill>
            <a:srgbClr val="DDFFDD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2E"/>
                </a:solidFill>
              </a:defRPr>
            </a:pPr>
            <a:r>
              <a:t>Backend</a:t>
            </a:r>
          </a:p>
          <a:p>
            <a:pPr algn="ctr">
              <a:defRPr sz="1300" b="0">
                <a:solidFill>
                  <a:srgbClr val="1A1A2E"/>
                </a:solidFill>
              </a:defRPr>
            </a:pPr>
            <a:r>
              <a:t>FastAPI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743200"/>
            <a:ext cx="2286000" cy="731520"/>
          </a:xfrm>
          <a:prstGeom prst="roundRect">
            <a:avLst/>
          </a:prstGeom>
          <a:solidFill>
            <a:srgbClr val="FFEEDD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2E"/>
                </a:solidFill>
              </a:defRPr>
            </a:pPr>
            <a:r>
              <a:t>ML Service</a:t>
            </a:r>
          </a:p>
          <a:p>
            <a:pPr algn="ctr">
              <a:defRPr sz="1300" b="0">
                <a:solidFill>
                  <a:srgbClr val="1A1A2E"/>
                </a:solidFill>
              </a:defRPr>
            </a:pPr>
            <a:r>
              <a:t>PyTorch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114800"/>
            <a:ext cx="2286000" cy="731520"/>
          </a:xfrm>
          <a:prstGeom prst="roundRect">
            <a:avLst/>
          </a:prstGeom>
          <a:solidFill>
            <a:srgbClr val="DDDDFF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2E"/>
                </a:solidFill>
              </a:defRPr>
            </a:pPr>
            <a:r>
              <a:t>PostgreSQL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4114800"/>
            <a:ext cx="2286000" cy="731520"/>
          </a:xfrm>
          <a:prstGeom prst="roundRect">
            <a:avLst/>
          </a:prstGeom>
          <a:solidFill>
            <a:srgbClr val="FFDDDD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2E"/>
                </a:solidFill>
              </a:defRPr>
            </a:pPr>
            <a:r>
              <a:t>Redis 7</a:t>
            </a:r>
          </a:p>
          <a:p>
            <a:pPr algn="ctr">
              <a:defRPr sz="1300" b="0">
                <a:solidFill>
                  <a:srgbClr val="1A1A2E"/>
                </a:solidFill>
              </a:defRPr>
            </a:pPr>
            <a:r>
              <a:t>+ Celery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4114800"/>
            <a:ext cx="2286000" cy="731520"/>
          </a:xfrm>
          <a:prstGeom prst="roundRect">
            <a:avLst/>
          </a:prstGeom>
          <a:solidFill>
            <a:srgbClr val="FFFFDD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2E"/>
                </a:solidFill>
              </a:defRPr>
            </a:pPr>
            <a:r>
              <a:t>MinIO</a:t>
            </a:r>
          </a:p>
          <a:p>
            <a:pPr algn="ctr">
              <a:defRPr sz="1300" b="0">
                <a:solidFill>
                  <a:srgbClr val="1A1A2E"/>
                </a:solidFill>
              </a:defRPr>
            </a:pPr>
            <a:r>
              <a:t>(модели S3)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486400"/>
            <a:ext cx="2286000" cy="731520"/>
          </a:xfrm>
          <a:prstGeom prst="roundRect">
            <a:avLst/>
          </a:prstGeom>
          <a:solidFill>
            <a:srgbClr val="EEEEEE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2E"/>
                </a:solidFill>
              </a:defRPr>
            </a:pPr>
            <a:r>
              <a:t>FAIR-MAST</a:t>
            </a:r>
          </a:p>
          <a:p>
            <a:pPr algn="ctr">
              <a:defRPr sz="1300" b="0">
                <a:solidFill>
                  <a:srgbClr val="1A1A2E"/>
                </a:solidFill>
              </a:defRPr>
            </a:pPr>
            <a:r>
              <a:t>S3/Zarr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5486400"/>
            <a:ext cx="2286000" cy="731520"/>
          </a:xfrm>
          <a:prstGeom prst="roundRect">
            <a:avLst/>
          </a:prstGeom>
          <a:solidFill>
            <a:srgbClr val="EEDDFF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2E"/>
                </a:solidFill>
              </a:defRPr>
            </a:pPr>
            <a:r>
              <a:t>Prometheus</a:t>
            </a:r>
          </a:p>
          <a:p>
            <a:pPr algn="ctr">
              <a:defRPr sz="1300" b="0">
                <a:solidFill>
                  <a:srgbClr val="1A1A2E"/>
                </a:solidFill>
              </a:defRPr>
            </a:pPr>
            <a:r>
              <a:t>+ Grafana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5486400"/>
            <a:ext cx="2286000" cy="731520"/>
          </a:xfrm>
          <a:prstGeom prst="roundRect">
            <a:avLst/>
          </a:prstGeom>
          <a:solidFill>
            <a:srgbClr val="DDFFFF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2E"/>
                </a:solidFill>
              </a:defRPr>
            </a:pPr>
            <a:r>
              <a:t>Telegram</a:t>
            </a:r>
          </a:p>
          <a:p>
            <a:pPr algn="ctr">
              <a:defRPr sz="1300" b="0">
                <a:solidFill>
                  <a:srgbClr val="1A1A2E"/>
                </a:solidFill>
              </a:defRPr>
            </a:pPr>
            <a:r>
              <a:t>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12 Docker-сервисов  |  4 изолированные сети  |  HTTPS (Let's Encrypt)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0392B"/>
                </a:solidFill>
              </a:defRPr>
            </a:pPr>
            <a:r>
              <a:t>API endpoints по кейсам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Кейс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3657600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88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Метод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188720"/>
            <a:ext cx="1371600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Метод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188720"/>
            <a:ext cx="5486400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Endpoint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Загрузка данных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916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1691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/api/v1/experiments/load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Визуализация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1945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t>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94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/api/v1/experiments/{id}/timeseries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6974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Классификация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6974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t>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2697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/api/v1/predictions/classify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Предсказание срыва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2004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t>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200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/api/v1/predictions/disruption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703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Обучение модели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7033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t>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7033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/api/v1/models/train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2062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Статус обучения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2062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t>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/api/v1/models/runs/{id}/status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091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Экспорт данных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7091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t>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47091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/api/v1/experiments/{id}/export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212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Пакетная классификация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52120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t>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52120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/api/v1/predictions/batch-classify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715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Управление пользователями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57150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t>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5715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/api/v1/admin/users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0392B"/>
                </a:solidFill>
              </a:defRPr>
            </a:pPr>
            <a:r>
              <a:t>Финальные метрики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Классификация (500 shots, 50 epochs)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Модель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AUC-ROC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39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bi-LSTM+Attention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286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392B"/>
                </a:solidFill>
              </a:defRPr>
            </a:pPr>
            <a:r>
              <a:t>0.9938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286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97.3%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39" y="2286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0.973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Random Forest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0.9677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97.3%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39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0.973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Transformer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00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0.9415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200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97.3%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9" y="3200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0.973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Forecasting / TokaMark (100 shots)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Модель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389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NRMSE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89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vs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846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LSTM Forecaster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4846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0.143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846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лучше (0.163)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Transformer Forecaster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0.196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сравнимо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760720"/>
            <a:ext cx="256032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C0392B"/>
                </a:solidFill>
              </a:defRPr>
            </a:pPr>
            <a:r>
              <a:t>205</a:t>
            </a:r>
          </a:p>
          <a:p>
            <a:pPr algn="ctr">
              <a:defRPr sz="1300">
                <a:solidFill>
                  <a:srgbClr val="666666"/>
                </a:solidFill>
              </a:defRPr>
            </a:pPr>
            <a:r>
              <a:t>тестов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0" y="5760720"/>
            <a:ext cx="256032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C0392B"/>
                </a:solidFill>
              </a:defRPr>
            </a:pPr>
            <a:r>
              <a:t>81%</a:t>
            </a:r>
          </a:p>
          <a:p>
            <a:pPr algn="ctr">
              <a:defRPr sz="1300">
                <a:solidFill>
                  <a:srgbClr val="666666"/>
                </a:solidFill>
              </a:defRPr>
            </a:pPr>
            <a:r>
              <a:t>coverage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5760720"/>
            <a:ext cx="256032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C0392B"/>
                </a:solidFill>
              </a:defRPr>
            </a:pPr>
            <a:r>
              <a:t>17/17</a:t>
            </a:r>
          </a:p>
          <a:p>
            <a:pPr algn="ctr">
              <a:defRPr sz="1300">
                <a:solidFill>
                  <a:srgbClr val="666666"/>
                </a:solidFill>
              </a:defRPr>
            </a:pPr>
            <a:r>
              <a:t>FR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5760720"/>
            <a:ext cx="256032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C0392B"/>
                </a:solidFill>
              </a:defRPr>
            </a:pPr>
            <a:r>
              <a:t>19 мс</a:t>
            </a:r>
          </a:p>
          <a:p>
            <a:pPr algn="ctr">
              <a:defRPr sz="1300">
                <a:solidFill>
                  <a:srgbClr val="666666"/>
                </a:solidFill>
              </a:defRPr>
            </a:pPr>
            <a:r>
              <a:t>inference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0392B"/>
                </a:solidFill>
              </a:defRPr>
            </a:pPr>
            <a:r>
              <a:t>Демо и ссылки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Сайт: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371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980B9"/>
                </a:solidFill>
              </a:defRPr>
            </a:pPr>
            <a:r>
              <a:t>https://tokamak-ai.ru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GitHub: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980B9"/>
                </a:solidFill>
              </a:defRPr>
            </a:pPr>
            <a:r>
              <a:t>https://github.com/sakiselev-ai/tokamak-analysis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Release: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0175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980B9"/>
                </a:solidFill>
              </a:defRPr>
            </a:pPr>
            <a:r>
              <a:t>https://github.com/sakiselev-ai/tokamak-analysis/releases/tag/v1.0.0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API Docs (Swagger):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840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980B9"/>
                </a:solidFill>
              </a:defRPr>
            </a:pPr>
            <a:r>
              <a:t>https://tokamak-ai.ru/docs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Логин: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663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980B9"/>
                </a:solidFill>
              </a:defRPr>
            </a:pPr>
            <a:r>
              <a:t>admin@mephi.ru / admin123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</a:defRPr>
            </a:pPr>
            <a:r>
              <a:t>Быстрый старт: docker compose up -d → http://localhost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Спасибо за внимание!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</a:defRPr>
            </a:pPr>
            <a:r>
              <a:t>https://tokamak-ai.ru  |  github.com/sakiselev-ai/tokamak-analysis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0392B"/>
                </a:solidFill>
              </a:defRPr>
            </a:pPr>
            <a:r>
              <a:t>НИЯУ МИФИ,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